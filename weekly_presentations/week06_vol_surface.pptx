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457200"/>
            <a:ext cx="2743200" cy="431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2651760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990000"/>
                </a:solidFill>
                <a:latin typeface="Arial"/>
              </a:rPr>
              <a:t>Week 6 — Options Pricing &amp; the Volatility Surface</a:t>
            </a:r>
          </a:p>
          <a:p>
            <a:r>
              <a:rPr sz="1800" b="0" i="1">
                <a:solidFill>
                  <a:srgbClr val="6D6D6D"/>
                </a:solidFill>
                <a:latin typeface="Arial"/>
              </a:rPr>
              <a:t>Greeks, no-arbitrage, and SVI/SABR calibration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0"/>
            <a:ext cx="110642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 i="0">
                <a:solidFill>
                  <a:srgbClr val="1A1A1A"/>
                </a:solidFill>
                <a:latin typeface="Arial"/>
              </a:rPr>
              <a:t>Optimal Market Making for Cryptocurrency Options  ·  NC State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Learning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Recall the Greeks, including vanna and volga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State the no-arbitrage constraints on the surface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Calibrate SVI and SABR to Coincall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1: Greeks &amp; the Surface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Black-Scholes and the Greek vector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Vanna, volga, and volatility risk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Calendar and butterfly arbitrage constraints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Lecture 2: SVI &amp; SABR Calibration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Raw and arbitrage-free SVI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SVI by nonlinear least squares (autograd Jacobians)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The SABR / Hagan expansion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2860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11480"/>
            <a:ext cx="8961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 i="0">
                <a:solidFill>
                  <a:srgbClr val="990000"/>
                </a:solidFill>
                <a:latin typeface="Arial"/>
              </a:rPr>
              <a:t>Illustration</a:t>
            </a:r>
          </a:p>
        </p:txBody>
      </p:sp>
      <p:pic>
        <p:nvPicPr>
          <p:cNvPr id="4" name="Picture 3" descr="week0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1371600"/>
            <a:ext cx="9601200" cy="522514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Key Equations &amp; Why We Choose Them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Full derivations in the PDF deck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w(k)=a+b\big(\rho(k-m)+\sqrt{(k-m)^2+\varsigma^2}\big)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Raw SVI for total implied variance $w=\sigma^2 T$ in log-moneyness $k$. The hyperbola shape is chosen because it matches observed smiles with only 5 parameters and has closed-form slopes for the no-arbitrage checks.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\text{butterfly: } g(k)\ge 0,\qquad \text{calendar: } \partial_T w(k,T)\ge 0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why: These inequalities are exactly 'no free option-portfolio arbitrage': a negative $g(k)$ implies a negative risk-neutral density, and decreasing total variance in $T$ implies a calendar arbitrage. We enforce them so the fitted surface is tradeable.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Getting the Data from Coincall</a:t>
            </a:r>
          </a:p>
          <a:p>
            <a:r>
              <a:rPr sz="1300" b="0" i="1">
                <a:solidFill>
                  <a:srgbClr val="6D6D6D"/>
                </a:solidFill>
                <a:latin typeface="Arial"/>
              </a:rPr>
              <a:t>Cross-check exact paths at https://docs.coincall.com/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Pull a full option chain with mark IV and Greeks per strike: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Chain:   GET /open/option/get/v1/{index}        (index = BTC/ETH underlying)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Detail:  GET /open/option/detail/v1/{symbol}    (mark, IV, delta/gamma/vega/theta/rho)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Consolas"/>
              </a:rPr>
              <a:t>    Symbols: GET /open/option/getInstruments/BTC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Offline: coincall_btc_options_chain_snapshots_2025Q4.parquet (5-min snapshots)</a:t>
            </a:r>
          </a:p>
          <a:p>
            <a:pPr>
              <a:spcAft>
                <a:spcPts val="500"/>
              </a:spcAft>
            </a:pPr>
            <a:r>
              <a:rPr sz="1200" b="0" i="0">
                <a:solidFill>
                  <a:srgbClr val="1A1A1A"/>
                </a:solidFill>
                <a:latin typeface="Arial"/>
              </a:rPr>
              <a:t>•  A baseline coincall_calibrated_svi_surfaces_2025Q4.parquet is provided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i="0">
                <a:solidFill>
                  <a:srgbClr val="990000"/>
                </a:solidFill>
                <a:latin typeface="Arial"/>
              </a:rPr>
              <a:t>Code — week6_bs_autograd.py -- Greeks via PyTorch autograd (no hand AD)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97280"/>
            <a:ext cx="11247120" cy="5394960"/>
          </a:xfrm>
          <a:prstGeom prst="rect">
            <a:avLst/>
          </a:prstGeom>
          <a:solidFill>
            <a:srgbClr val="F5F5F5"/>
          </a:solidFill>
          <a:ln w="9525">
            <a:solidFill>
              <a:srgbClr val="6D6D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import torch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def bs_call(S, K, T, r, sig):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d1 = (torch.log(S/K) + (r + 0.5*sig**2)*T) / (sig*torch.sqrt(T))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d2 = d1 - sig*torch.sqrt(T)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N = torch.distributions.Normal(0., 1.).cdf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return S*N(d1) - K*torch.exp(-r*T)*N(d2)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S,K,T,r,sig = [torch.tensor(x, requires_grad=True)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               for x in (100., 100., 1.0, 0.0, 0.6)]   # crypto IV ~ 60%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price = bs_call(S,K,T,r,sig)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vega,  = torch.autograd.grad(price, sig, create_graph=True)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vanna, = torch.autograd.grad(vega, S, create_graph=True)   # d vega / dS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volga, = torch.autograd.grad(vega, sig)                    # d vega / d sig</a:t>
            </a:r>
          </a:p>
          <a:p>
            <a:pPr>
              <a:spcAft>
                <a:spcPts val="0"/>
              </a:spcAft>
            </a:pPr>
            <a:r>
              <a:rPr sz="1100" b="0" i="0">
                <a:solidFill>
                  <a:srgbClr val="1A1A1A"/>
                </a:solidFill>
                <a:latin typeface="Consolas"/>
              </a:rPr>
              <a:t>print(float(price), float(vega), float(vanna), float(volga))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ncsu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274320"/>
            <a:ext cx="2011680" cy="31665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457200"/>
            <a:ext cx="8961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990000"/>
                </a:solidFill>
                <a:latin typeface="Arial"/>
              </a:rPr>
              <a:t>Reading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47120" cy="2794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60020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1A1A1A"/>
                </a:solidFill>
                <a:latin typeface="Arial"/>
              </a:rPr>
              <a:t>•  Gatheral (2006), Ch. 1-5; Gatheral-Jacquier (2014); Hagan et al. (2002)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