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7432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6517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990000"/>
                </a:solidFill>
                <a:latin typeface="Arial"/>
              </a:rPr>
              <a:t>Week 3 — The Avellaneda-Stoikov Model</a:t>
            </a:r>
          </a:p>
          <a:p>
            <a:r>
              <a:rPr sz="1800" b="0" i="1">
                <a:solidFill>
                  <a:srgbClr val="6D6D6D"/>
                </a:solidFill>
                <a:latin typeface="Arial"/>
              </a:rPr>
              <a:t>Optimal market making via stochastic control -- derived from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Optimal Market Making for Cryptocurrency Options  ·  NC State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Set up the Avellaneda-Stoikov control problem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Follow the HJB derivation and understand every modeling choice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Interpret the reservation price and the optimal half-spread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Lecture 1: Setup &amp; Dynamics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Mid-price: dS_t = sigma dW_t  (arithmetic Brownian motion)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Fill intensity: lambda(delta) = A exp(-kappa delta)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Wealth from fills; inventory q jumps by +/-1 on a fill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Exponential (CARA) utility of terminal wealth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Lecture 2: HJB, Ansatz, Closed 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Dynamic programming -&gt; HJB partial differential equation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Separation ansatz collapses HJB to ODEs in inventory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Asymptotic (long-horizon) closed-form quotes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Reservation price skews quotes against inventory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2860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1148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990000"/>
                </a:solidFill>
                <a:latin typeface="Arial"/>
              </a:rPr>
              <a:t>Illustration</a:t>
            </a:r>
          </a:p>
        </p:txBody>
      </p:sp>
      <p:pic>
        <p:nvPicPr>
          <p:cNvPr id="4" name="Picture 3" descr="week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371600"/>
            <a:ext cx="9601200" cy="52251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Key Equations &amp; Why We Choose Them</a:t>
            </a:r>
          </a:p>
          <a:p>
            <a:r>
              <a:rPr sz="1300" b="0" i="1">
                <a:solidFill>
                  <a:srgbClr val="6D6D6D"/>
                </a:solidFill>
                <a:latin typeface="Arial"/>
              </a:rPr>
              <a:t>Full derivations in the PDF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dS_t = \sigma\, dW_t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Arithmetic (not geometric) Brownian motion is chosen because over a short market-making horizon price changes are small and roughly additive; it keeps the HJB linear in $S$ and makes the cash dynamics exact.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\lambda(\delta) = A\, e^{-\kappa \delta}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Fill intensity decays with quote distance $\delta$. The exponential form is the simplest law consistent with 'further from mid $\Rightarrow$ fewer fills'; $A$ sets the base rate, $\kappa$ the decay. It also yields a closed-form optimum.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\max\ \mathbb{E}\!\left[-e^{-\gamma\,(X_T + q_T S_T)}\right]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CARA (exponential) utility is used because constant absolute risk aversion makes the value function factor out wealth, so the optimal quotes do not depend on the cash level -- exactly what we want for a market maker.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\partial_t V + \tfrac12\sigma^2 \partial_{SS} V + \max_{\delta^b}\lambda(\delta^b)\big[V(q{+}1,x{-}S{+}\delta^b)-V\big]+ \max_{\delta^a}\lambda(\delta^a)\big[V(q{-}1,x{+}S{+}\delta^a)-V\big]=0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The HJB equation: the diffusion term prices inventory risk; each $\max$ term is the dealer optimally choosing the bid/ask offset, trading fill probability against captured spread.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V(t,x,S,q) = -e^{-\gamma(x+qS)}\,\theta(t,q)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This ansatz is not a guess from nowhere: under CARA $+$ arithmetic dynamics the value function inherits a multiplicative structure across $(x, qS)$, so all the wealth/price dependence is exponential and only $\theta(t,q)$ remains to solve.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r(t,q) = S - q\,\gamma\,\sigma^2 (T-t)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The reservation (indifference) price: it sits BELOW mid when you are long ($q&gt;0$) so you quote to sell down inventory. The skew scales with risk aversion $\gamma$, variance $\sigma^2$, and time left -- more risk $\Rightarrow$ more skew.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\delta^* = \tfrac{1}{\gamma}\ln\!\big(1+\tfrac{\gamma}{\kappa}\big) + \tfrac{\gamma\sigma^2}{2}(T-t)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The optimal half-spread = an order-flow term $\tfrac1\gamma\ln(1+\gamma/\kappa)$ (how hard fills are to get) plus an inventory-risk term $\tfrac{\gamma\sigma^2}{2}(T-t)$. You widen when risk-averse, when volatile, and when far from the horizon.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Getting the Data from Coincall</a:t>
            </a:r>
          </a:p>
          <a:p>
            <a:r>
              <a:rPr sz="1300" b="0" i="1">
                <a:solidFill>
                  <a:srgbClr val="6D6D6D"/>
                </a:solidFill>
                <a:latin typeface="Arial"/>
              </a:rPr>
              <a:t>Cross-check exact paths at https://docs.coincall.com/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This week uses simulated dynamics (no live data needed).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For realistic sigma, estimate it from Coincall perp klines: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GET /open/option/market/kline/history/v1/{name}?period=m1  (or futures klines)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You will calibrate A, kappa from real fills in Week 5.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990000"/>
                </a:solidFill>
                <a:latin typeface="Arial"/>
              </a:rPr>
              <a:t>Code — week3_as_quotes.py -- closed-form quotes in PyTorch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5394960"/>
          </a:xfrm>
          <a:prstGeom prst="rect">
            <a:avLst/>
          </a:prstGeom>
          <a:solidFill>
            <a:srgbClr val="F5F5F5"/>
          </a:solidFill>
          <a:ln w="9525">
            <a:solidFill>
              <a:srgbClr val="6D6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import torch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def as_quotes(S, q, gamma, sigma, kappa, tau):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"""Asymptotic Avellaneda-Stoikov bid/ask. Vectorized over inventory q."""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reservation = S - q * gamma * sigma**2 * tau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half_spread = (1.0/gamma) * torch.log1p(gamma/kappa) \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              + 0.5 * gamma * sigma**2 * tau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return reservation - half_spread, reservation + half_spread  # bid, ask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S = torch.tensor(100.0); q = torch.arange(-10, 11).float()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bid, ask = as_quotes(S, q, gamma=0.1, sigma=2.0, kappa=1.5, tau=1.0)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print("inventory -&gt;", q.tolist())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print("bid       -&gt;", bid.round(decimals=2).tolist())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Avellaneda-Stoikov (2008); Cartea-Jaikumar-Penalva, Ch.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